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63" r:id="rId4"/>
    <p:sldId id="264" r:id="rId5"/>
    <p:sldId id="265" r:id="rId6"/>
    <p:sldId id="259" r:id="rId7"/>
    <p:sldId id="260" r:id="rId8"/>
    <p:sldId id="261" r:id="rId9"/>
    <p:sldId id="262" r:id="rId10"/>
  </p:sldIdLst>
  <p:sldSz cx="9144000" cy="5143500" type="screen16x9"/>
  <p:notesSz cx="6858000" cy="9144000"/>
  <p:embeddedFontLst>
    <p:embeddedFont>
      <p:font typeface="Roboto" charset="0"/>
      <p:regular r:id="rId12"/>
      <p:bold r:id="rId13"/>
      <p:italic r:id="rId14"/>
      <p:boldItalic r:id="rId15"/>
    </p:embeddedFont>
    <p:embeddedFont>
      <p:font typeface="Roboto Slab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>
        <p:scale>
          <a:sx n="86" d="100"/>
          <a:sy n="86" d="100"/>
        </p:scale>
        <p:origin x="-906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811540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44535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the System Works</a:t>
            </a:r>
            <a:endParaRPr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721325"/>
              </p:ext>
            </p:extLst>
          </p:nvPr>
        </p:nvGraphicFramePr>
        <p:xfrm>
          <a:off x="1558006" y="1106456"/>
          <a:ext cx="4686798" cy="4042572"/>
        </p:xfrm>
        <a:graphic>
          <a:graphicData uri="http://schemas.openxmlformats.org/drawingml/2006/table">
            <a:tbl>
              <a:tblPr/>
              <a:tblGrid>
                <a:gridCol w="1562266"/>
                <a:gridCol w="1562266"/>
                <a:gridCol w="1562266"/>
              </a:tblGrid>
              <a:tr h="203317">
                <a:tc>
                  <a:txBody>
                    <a:bodyPr/>
                    <a:lstStyle/>
                    <a:p>
                      <a:r>
                        <a:rPr lang="en-IN" sz="1000" dirty="0"/>
                        <a:t>Data Category</a:t>
                      </a:r>
                    </a:p>
                  </a:txBody>
                  <a:tcPr marL="64161" marR="64161" marT="32081" marB="32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Specific Variables</a:t>
                      </a:r>
                    </a:p>
                  </a:txBody>
                  <a:tcPr marL="64161" marR="64161" marT="32081" marB="32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Purpose in Modeling</a:t>
                      </a:r>
                    </a:p>
                  </a:txBody>
                  <a:tcPr marL="64161" marR="64161" marT="32081" marB="32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2555">
                <a:tc>
                  <a:txBody>
                    <a:bodyPr/>
                    <a:lstStyle/>
                    <a:p>
                      <a:r>
                        <a:rPr lang="en-IN" sz="1000" b="1" dirty="0"/>
                        <a:t>Demographic</a:t>
                      </a:r>
                      <a:endParaRPr lang="en-IN" sz="1000" dirty="0"/>
                    </a:p>
                  </a:txBody>
                  <a:tcPr marL="64161" marR="64161" marT="32081" marB="32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 err="1"/>
                        <a:t>Customer_ID</a:t>
                      </a:r>
                      <a:r>
                        <a:rPr lang="en-IN" sz="1000" dirty="0"/>
                        <a:t>, Age, Location, </a:t>
                      </a:r>
                      <a:r>
                        <a:rPr lang="en-IN" sz="1000" dirty="0" err="1"/>
                        <a:t>Employment_Status</a:t>
                      </a:r>
                      <a:endParaRPr lang="en-IN" sz="1000" dirty="0"/>
                    </a:p>
                  </a:txBody>
                  <a:tcPr marL="64161" marR="64161" marT="32081" marB="32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To understand the customer base and for vital </a:t>
                      </a:r>
                      <a:r>
                        <a:rPr lang="en-US" sz="1000" b="1" dirty="0"/>
                        <a:t>bias/fairness testing</a:t>
                      </a:r>
                      <a:r>
                        <a:rPr lang="en-US" sz="1000" dirty="0"/>
                        <a:t> across different groups.</a:t>
                      </a:r>
                    </a:p>
                  </a:txBody>
                  <a:tcPr marL="64161" marR="64161" marT="32081" marB="32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2555">
                <a:tc>
                  <a:txBody>
                    <a:bodyPr/>
                    <a:lstStyle/>
                    <a:p>
                      <a:r>
                        <a:rPr lang="en-IN" sz="1000" b="1"/>
                        <a:t>Financial Health</a:t>
                      </a:r>
                      <a:endParaRPr lang="en-IN" sz="1000"/>
                    </a:p>
                  </a:txBody>
                  <a:tcPr marL="64161" marR="64161" marT="32081" marB="32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Income, </a:t>
                      </a:r>
                      <a:r>
                        <a:rPr lang="en-IN" sz="1000" dirty="0" err="1"/>
                        <a:t>Loan_Balance</a:t>
                      </a:r>
                      <a:r>
                        <a:rPr lang="en-IN" sz="1000" dirty="0"/>
                        <a:t>, </a:t>
                      </a:r>
                      <a:r>
                        <a:rPr lang="en-IN" sz="1000" dirty="0" err="1"/>
                        <a:t>Debt_to_Income_Ratio</a:t>
                      </a:r>
                      <a:endParaRPr lang="en-IN" sz="1000" dirty="0"/>
                    </a:p>
                  </a:txBody>
                  <a:tcPr marL="64161" marR="64161" marT="32081" marB="32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Key indicators of a customer's financial capacity and stability. High DTI shows strain.</a:t>
                      </a:r>
                    </a:p>
                  </a:txBody>
                  <a:tcPr marL="64161" marR="64161" marT="32081" marB="32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75634">
                <a:tc>
                  <a:txBody>
                    <a:bodyPr/>
                    <a:lstStyle/>
                    <a:p>
                      <a:r>
                        <a:rPr lang="en-IN" sz="1000" b="1"/>
                        <a:t>Credit Performance</a:t>
                      </a:r>
                      <a:endParaRPr lang="en-IN" sz="1000"/>
                    </a:p>
                  </a:txBody>
                  <a:tcPr marL="64161" marR="64161" marT="32081" marB="32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Credit_Score, Missed_Payments, Delinquent_Account, Credit_Utilization</a:t>
                      </a:r>
                    </a:p>
                  </a:txBody>
                  <a:tcPr marL="64161" marR="64161" marT="32081" marB="32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The most direct measures of past and current credit behavior and risk profile. High utilization is a major risk factor.</a:t>
                      </a:r>
                    </a:p>
                  </a:txBody>
                  <a:tcPr marL="64161" marR="64161" marT="32081" marB="32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2555">
                <a:tc>
                  <a:txBody>
                    <a:bodyPr/>
                    <a:lstStyle/>
                    <a:p>
                      <a:r>
                        <a:rPr lang="en-IN" sz="1000" b="1" dirty="0"/>
                        <a:t>Account Details</a:t>
                      </a:r>
                      <a:endParaRPr lang="en-IN" sz="1000" dirty="0"/>
                    </a:p>
                  </a:txBody>
                  <a:tcPr marL="64161" marR="64161" marT="32081" marB="32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Account_Tenure, Credit_Card_Type</a:t>
                      </a:r>
                    </a:p>
                  </a:txBody>
                  <a:tcPr marL="64161" marR="64161" marT="32081" marB="32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Provides context on the customer's history with the institution and the type of product they hold.</a:t>
                      </a:r>
                    </a:p>
                  </a:txBody>
                  <a:tcPr marL="64161" marR="64161" marT="32081" marB="32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2555">
                <a:tc>
                  <a:txBody>
                    <a:bodyPr/>
                    <a:lstStyle/>
                    <a:p>
                      <a:r>
                        <a:rPr lang="en-IN" sz="1000" b="1"/>
                        <a:t>Payment History (Target)</a:t>
                      </a:r>
                      <a:endParaRPr lang="en-IN" sz="1000"/>
                    </a:p>
                  </a:txBody>
                  <a:tcPr marL="64161" marR="64161" marT="32081" marB="32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Month_1, Month_2, Month_3, Month_4, Month_5, Month_6</a:t>
                      </a:r>
                    </a:p>
                  </a:txBody>
                  <a:tcPr marL="64161" marR="64161" marT="32081" marB="32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Used to create the </a:t>
                      </a:r>
                      <a:r>
                        <a:rPr lang="en-US" sz="1000" b="1" dirty="0"/>
                        <a:t>target variable</a:t>
                      </a:r>
                      <a:r>
                        <a:rPr lang="en-US" sz="1000" dirty="0"/>
                        <a:t> (Delinquency), which the model is trained to predict.</a:t>
                      </a:r>
                    </a:p>
                  </a:txBody>
                  <a:tcPr marL="64161" marR="64161" marT="32081" marB="32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80899" y="77948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Categories of Collected Customer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the actions are determined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114300" indent="0">
              <a:buNone/>
            </a:pPr>
            <a:r>
              <a:rPr lang="en-US" dirty="0"/>
              <a:t>The actions recommended for the delinquency model are determined by a three-step process: </a:t>
            </a:r>
            <a:r>
              <a:rPr lang="en-US" b="1" dirty="0"/>
              <a:t>Model Insight, Root Cause Analysis, and SMART Alignment.</a:t>
            </a:r>
            <a:r>
              <a:rPr lang="en-US" dirty="0"/>
              <a:t> First, the </a:t>
            </a:r>
            <a:r>
              <a:rPr lang="en-US" b="1" dirty="0"/>
              <a:t>logistic regression model is analyzed</a:t>
            </a:r>
            <a:r>
              <a:rPr lang="en-US" dirty="0"/>
              <a:t> to identify the strongest statistical predictors of delinquency, revealing that </a:t>
            </a:r>
            <a:r>
              <a:rPr lang="en-US" b="1" dirty="0"/>
              <a:t>High Credit Utilization (CUR)</a:t>
            </a:r>
            <a:r>
              <a:rPr lang="en-US" dirty="0"/>
              <a:t> is a primary risk driver. Second, a </a:t>
            </a:r>
            <a:r>
              <a:rPr lang="en-US" b="1" dirty="0"/>
              <a:t>root cause analysis</a:t>
            </a:r>
            <a:r>
              <a:rPr lang="en-US" dirty="0"/>
              <a:t> confirms that high CUR indicates financial strain and a lack of liquidity, which dictates the type of intervention needed—assistance with debt and financial education. Third, this determined action (the Targeted Utilization Reduction Program) is formalized using the </a:t>
            </a:r>
            <a:r>
              <a:rPr lang="en-US" b="1" dirty="0"/>
              <a:t>SMART framework</a:t>
            </a:r>
            <a:r>
              <a:rPr lang="en-US" dirty="0"/>
              <a:t> to ensure it is </a:t>
            </a:r>
            <a:r>
              <a:rPr lang="en-US" b="1" dirty="0"/>
              <a:t>Specific</a:t>
            </a:r>
            <a:r>
              <a:rPr lang="en-US" dirty="0"/>
              <a:t> (targeting the riskiest CUR/Credit Score cohort), </a:t>
            </a:r>
            <a:r>
              <a:rPr lang="en-US" b="1" dirty="0"/>
              <a:t>Measurable</a:t>
            </a:r>
            <a:r>
              <a:rPr lang="en-US" dirty="0"/>
              <a:t> (setting a target reduction for CUR and delinquency rates), and </a:t>
            </a:r>
            <a:r>
              <a:rPr lang="en-US" b="1" dirty="0"/>
              <a:t>Time-bound</a:t>
            </a:r>
            <a:r>
              <a:rPr lang="en-US" dirty="0"/>
              <a:t> (with a 90-day execution period), thereby aligning the statistical findings directly with actionable business objectives for risk mitigation.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362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To Be Triggered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050" b="1" dirty="0"/>
              <a:t>Targeted Utilization Reduction Program (TURP):</a:t>
            </a:r>
            <a:r>
              <a:rPr lang="en-US" sz="1050" dirty="0"/>
              <a:t> Offer rate reductions or payment plans to the </a:t>
            </a:r>
            <a:r>
              <a:rPr lang="en-US" sz="1050" b="1" dirty="0"/>
              <a:t>highest-risk cohort</a:t>
            </a:r>
            <a:r>
              <a:rPr lang="en-US" sz="1050" dirty="0"/>
              <a:t> (CUR≥0.50 and low Credit Score) to quickly lower debt burden.</a:t>
            </a:r>
          </a:p>
          <a:p>
            <a:r>
              <a:rPr lang="en-US" sz="1050" b="1" dirty="0"/>
              <a:t>High-Touch Financial Consultation:</a:t>
            </a:r>
            <a:r>
              <a:rPr lang="en-US" sz="1050" dirty="0"/>
              <a:t> Use a </a:t>
            </a:r>
            <a:r>
              <a:rPr lang="en-US" sz="1050" b="1" dirty="0"/>
              <a:t>Financial Wellness Counselor</a:t>
            </a:r>
            <a:r>
              <a:rPr lang="en-US" sz="1050" dirty="0"/>
              <a:t> to call extreme-risk customers (CUR≥0.70) to prevent immediate default.</a:t>
            </a:r>
          </a:p>
          <a:p>
            <a:r>
              <a:rPr lang="en-US" sz="1050" b="1" dirty="0"/>
              <a:t>Credit Builder Nudges:</a:t>
            </a:r>
            <a:r>
              <a:rPr lang="en-US" sz="1050" dirty="0"/>
              <a:t> Send </a:t>
            </a:r>
            <a:r>
              <a:rPr lang="en-US" sz="1050" b="1" dirty="0"/>
              <a:t>automated, personalized micro-lessons</a:t>
            </a:r>
            <a:r>
              <a:rPr lang="en-US" sz="1050" dirty="0"/>
              <a:t> (SMS/Email) on managing utilization and payments to customers with low Credit Scores (≤600) and a history of missed payments.</a:t>
            </a:r>
          </a:p>
          <a:p>
            <a:r>
              <a:rPr lang="en-US" sz="1050" b="1" dirty="0"/>
              <a:t>Debt Consolidation Review:</a:t>
            </a:r>
            <a:r>
              <a:rPr lang="en-US" sz="1050" dirty="0"/>
              <a:t> Proactively offer low-interest consolidation products to customers with a </a:t>
            </a:r>
            <a:r>
              <a:rPr lang="en-US" sz="1050" b="1" dirty="0"/>
              <a:t>High Debt-to-Income Ratio (≥0.40)</a:t>
            </a:r>
            <a:r>
              <a:rPr lang="en-US" sz="1050" dirty="0"/>
              <a:t> to streamline their monthly payments.</a:t>
            </a:r>
          </a:p>
          <a:p>
            <a:r>
              <a:rPr lang="en-US" sz="1050" b="1" dirty="0"/>
              <a:t>Credit Reporting Education:</a:t>
            </a:r>
            <a:r>
              <a:rPr lang="en-US" sz="1050" dirty="0"/>
              <a:t> Provide </a:t>
            </a:r>
            <a:r>
              <a:rPr lang="en-US" sz="1050" b="1" dirty="0"/>
              <a:t>online tools and information</a:t>
            </a:r>
            <a:r>
              <a:rPr lang="en-US" sz="1050" dirty="0"/>
              <a:t> about credit bureau reporting to customers with an existing "Delinquent Account" flag to encourage responsible re-engagement.</a:t>
            </a:r>
          </a:p>
          <a:p>
            <a:r>
              <a:rPr lang="en-US" sz="1050" b="1" dirty="0"/>
              <a:t>Hardship Enrollment Review:</a:t>
            </a:r>
            <a:r>
              <a:rPr lang="en-US" sz="1050" dirty="0"/>
              <a:t> Offer a temporary </a:t>
            </a:r>
            <a:r>
              <a:rPr lang="en-US" sz="1050" b="1" dirty="0"/>
              <a:t>grace period or reduced minimum payments</a:t>
            </a:r>
            <a:r>
              <a:rPr lang="en-US" sz="1050" dirty="0"/>
              <a:t> to unemployed customers with a high DTI, focusing on ethical relief during financial crises.</a:t>
            </a:r>
          </a:p>
          <a:p>
            <a:pPr marL="114300" indent="0">
              <a:buNone/>
            </a:pPr>
            <a:endParaRPr lang="en-US" sz="1050" dirty="0"/>
          </a:p>
          <a:p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351529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934" y="766497"/>
            <a:ext cx="8368200" cy="6861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System Tracking and Continuous Improvement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This process ensures the model stays accurate and the interventions remain effective, creating a </a:t>
            </a:r>
            <a:r>
              <a:rPr lang="en-US" b="1" dirty="0"/>
              <a:t>sustainable risk mitigation cycle.</a:t>
            </a:r>
            <a:endParaRPr lang="en-US" dirty="0"/>
          </a:p>
          <a:p>
            <a:r>
              <a:rPr lang="en-US" b="1" dirty="0"/>
              <a:t>Track Outcomes (Intervention Effectiveness):</a:t>
            </a:r>
            <a:endParaRPr lang="en-US" dirty="0"/>
          </a:p>
          <a:p>
            <a:pPr lvl="1"/>
            <a:r>
              <a:rPr lang="en-US" dirty="0"/>
              <a:t>Measure the </a:t>
            </a:r>
            <a:r>
              <a:rPr lang="en-US" b="1" dirty="0"/>
              <a:t>Delinquency Reduction Rate</a:t>
            </a:r>
            <a:r>
              <a:rPr lang="en-US" dirty="0"/>
              <a:t> for customers who received an intervention (e.g., TURP) versus a control group.</a:t>
            </a:r>
          </a:p>
          <a:p>
            <a:pPr lvl="1"/>
            <a:r>
              <a:rPr lang="en-US" dirty="0"/>
              <a:t>Quantify the resulting </a:t>
            </a:r>
            <a:r>
              <a:rPr lang="en-US" b="1" dirty="0"/>
              <a:t>Cost Savings</a:t>
            </a:r>
            <a:r>
              <a:rPr lang="en-US" dirty="0"/>
              <a:t> from reduced collections and write-offs.</a:t>
            </a:r>
          </a:p>
          <a:p>
            <a:r>
              <a:rPr lang="en-US" b="1" dirty="0"/>
              <a:t>Monitor Model Accuracy (Drift Detection):</a:t>
            </a:r>
            <a:endParaRPr lang="en-US" dirty="0"/>
          </a:p>
          <a:p>
            <a:pPr lvl="1"/>
            <a:r>
              <a:rPr lang="en-US" dirty="0"/>
              <a:t>Continuously recalculate core metrics (AUC, F1-Score) to detect </a:t>
            </a:r>
            <a:r>
              <a:rPr lang="en-US" b="1" dirty="0"/>
              <a:t>Model Drift</a:t>
            </a:r>
            <a:r>
              <a:rPr lang="en-US" dirty="0"/>
              <a:t> (when predictions lose accuracy over time).</a:t>
            </a:r>
          </a:p>
          <a:p>
            <a:r>
              <a:rPr lang="en-US" b="1" dirty="0"/>
              <a:t>Improve Over Time (Feedback Loop):</a:t>
            </a:r>
            <a:endParaRPr lang="en-US" dirty="0"/>
          </a:p>
          <a:p>
            <a:pPr lvl="1"/>
            <a:r>
              <a:rPr lang="en-US" b="1" dirty="0"/>
              <a:t>Scheduled Retraining:</a:t>
            </a:r>
            <a:r>
              <a:rPr lang="en-US" dirty="0"/>
              <a:t> Automatically retrain the model </a:t>
            </a:r>
            <a:r>
              <a:rPr lang="en-US" b="1" dirty="0"/>
              <a:t>quarterly</a:t>
            </a:r>
            <a:r>
              <a:rPr lang="en-US" dirty="0"/>
              <a:t> using the latest data and new economic/behavioral trends.</a:t>
            </a:r>
          </a:p>
          <a:p>
            <a:pPr lvl="1"/>
            <a:r>
              <a:rPr lang="en-US" b="1" dirty="0"/>
              <a:t>Enrich Data:</a:t>
            </a:r>
            <a:r>
              <a:rPr lang="en-US" dirty="0"/>
              <a:t> Feed intervention outcomes (success or failure) back into the training data as a new feature to teach the model what actions are most effective.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429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Role of Agentic AI</a:t>
            </a:r>
            <a:endParaRPr dirty="0"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r>
              <a:rPr lang="en-US" b="1" dirty="0"/>
              <a:t>Fully Automated Decisions (Autonomy)</a:t>
            </a:r>
          </a:p>
          <a:p>
            <a:r>
              <a:rPr lang="en-US" b="1" dirty="0"/>
              <a:t>Triggered Nudges &amp; Emails:</a:t>
            </a:r>
            <a:r>
              <a:rPr lang="en-US" dirty="0"/>
              <a:t> Sending educational content, credit reminders, and generic offer letters (e.g., Debt Consolidation Review offers).</a:t>
            </a:r>
          </a:p>
          <a:p>
            <a:r>
              <a:rPr lang="en-US" b="1" dirty="0"/>
              <a:t>Risk Flagging &amp; Prioritization:</a:t>
            </a:r>
            <a:r>
              <a:rPr lang="en-US" dirty="0"/>
              <a:t> The model autonomously scores every customer and sorts high-risk accounts for intervention queues.</a:t>
            </a:r>
          </a:p>
          <a:p>
            <a:r>
              <a:rPr lang="en-US" b="1" dirty="0"/>
              <a:t>Performance Monitoring:</a:t>
            </a:r>
            <a:r>
              <a:rPr lang="en-US" dirty="0"/>
              <a:t> Automatic detection of Model Drift and regular performance metric checks.</a:t>
            </a:r>
          </a:p>
          <a:p>
            <a:r>
              <a:rPr lang="en-US" b="1" dirty="0"/>
              <a:t>Human-Reviewed Actions (Oversight)</a:t>
            </a:r>
          </a:p>
          <a:p>
            <a:r>
              <a:rPr lang="en-US" b="1" dirty="0"/>
              <a:t>Hardship Plan Approval:</a:t>
            </a:r>
            <a:r>
              <a:rPr lang="en-US" dirty="0"/>
              <a:t> Reviewing and approving complex financial changes, such as </a:t>
            </a:r>
            <a:r>
              <a:rPr lang="en-US" b="1" dirty="0"/>
              <a:t>Hardship Enrollment</a:t>
            </a:r>
            <a:r>
              <a:rPr lang="en-US" dirty="0"/>
              <a:t> or payment deferrals.</a:t>
            </a:r>
          </a:p>
          <a:p>
            <a:r>
              <a:rPr lang="en-US" b="1" dirty="0"/>
              <a:t>Personalized Consultation:</a:t>
            </a:r>
            <a:r>
              <a:rPr lang="en-US" dirty="0"/>
              <a:t> The </a:t>
            </a:r>
            <a:r>
              <a:rPr lang="en-US" b="1" dirty="0"/>
              <a:t>High-Touch Consultation</a:t>
            </a:r>
            <a:r>
              <a:rPr lang="en-US" dirty="0"/>
              <a:t> for extreme-risk customers requires a counselor to listen, negotiate, and advise.</a:t>
            </a:r>
          </a:p>
          <a:p>
            <a:r>
              <a:rPr lang="en-US" b="1" dirty="0"/>
              <a:t>Contract Finalization:</a:t>
            </a:r>
            <a:r>
              <a:rPr lang="en-US" dirty="0"/>
              <a:t> Approval and activation of all financial agreements, including the finalization of </a:t>
            </a:r>
            <a:r>
              <a:rPr lang="en-US" b="1" dirty="0"/>
              <a:t>TURP</a:t>
            </a:r>
            <a:r>
              <a:rPr lang="en-US" dirty="0"/>
              <a:t> or consolidation offers.</a:t>
            </a:r>
          </a:p>
          <a:p>
            <a:r>
              <a:rPr lang="en-US" b="1" dirty="0"/>
              <a:t>Model Deployment:</a:t>
            </a:r>
            <a:r>
              <a:rPr lang="en-US" dirty="0"/>
              <a:t> Data science team must review, bias-check, and </a:t>
            </a:r>
            <a:r>
              <a:rPr lang="en-US" b="1" dirty="0"/>
              <a:t>formally approve</a:t>
            </a:r>
            <a:r>
              <a:rPr lang="en-US" dirty="0"/>
              <a:t> all retrained models before they go </a:t>
            </a:r>
            <a:r>
              <a:rPr lang="en-US" dirty="0" smtClean="0"/>
              <a:t>live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KEY SAFE GUARDS</a:t>
            </a:r>
            <a:endParaRPr dirty="0"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Fairness Checks:</a:t>
            </a:r>
            <a:r>
              <a:rPr lang="en-US" sz="1600" dirty="0"/>
              <a:t> Conduct </a:t>
            </a:r>
            <a:r>
              <a:rPr lang="en-US" sz="1600" b="1" dirty="0"/>
              <a:t>Disparate Impact Analysis</a:t>
            </a:r>
            <a:r>
              <a:rPr lang="en-US" sz="1600" dirty="0"/>
              <a:t> before every deployment. Measure error rates across protected groups (Age, Location) and apply </a:t>
            </a:r>
            <a:r>
              <a:rPr lang="en-US" sz="1600" b="1" dirty="0"/>
              <a:t>Adversarial </a:t>
            </a:r>
            <a:r>
              <a:rPr lang="en-US" sz="1600" b="1" dirty="0" err="1"/>
              <a:t>Debiasing</a:t>
            </a:r>
            <a:r>
              <a:rPr lang="en-US" sz="1600" dirty="0"/>
              <a:t> if bias is detected.</a:t>
            </a:r>
          </a:p>
          <a:p>
            <a:r>
              <a:rPr lang="en-US" sz="1600" b="1" dirty="0"/>
              <a:t>Transparency (</a:t>
            </a:r>
            <a:r>
              <a:rPr lang="en-US" sz="1600" b="1" dirty="0" err="1"/>
              <a:t>Explainability</a:t>
            </a:r>
            <a:r>
              <a:rPr lang="en-US" sz="1600" b="1" dirty="0"/>
              <a:t>):</a:t>
            </a:r>
            <a:r>
              <a:rPr lang="en-US" sz="1600" dirty="0"/>
              <a:t> Use </a:t>
            </a:r>
            <a:r>
              <a:rPr lang="en-US" sz="1600" b="1" dirty="0"/>
              <a:t>LIME/SHAP values</a:t>
            </a:r>
            <a:r>
              <a:rPr lang="en-US" sz="1600" dirty="0"/>
              <a:t> to generate a clear, human-readable reason for every high-risk flag, ensuring we can explain </a:t>
            </a:r>
            <a:r>
              <a:rPr lang="en-US" sz="1600" i="1" dirty="0"/>
              <a:t>why</a:t>
            </a:r>
            <a:r>
              <a:rPr lang="en-US" sz="1600" dirty="0"/>
              <a:t> the prediction was made.</a:t>
            </a:r>
          </a:p>
          <a:p>
            <a:r>
              <a:rPr lang="en-US" sz="1600" b="1" dirty="0"/>
              <a:t>Regulatory Compliance:</a:t>
            </a:r>
            <a:r>
              <a:rPr lang="en-US" sz="1600" dirty="0"/>
              <a:t> Automatically generate compliant </a:t>
            </a:r>
            <a:r>
              <a:rPr lang="en-US" sz="1600" b="1" dirty="0"/>
              <a:t>Adverse Action Notices (AANs)</a:t>
            </a:r>
            <a:r>
              <a:rPr lang="en-US" sz="1600" dirty="0"/>
              <a:t> for any denied offer (ECOA). Ensure strict </a:t>
            </a:r>
            <a:r>
              <a:rPr lang="en-US" sz="1600" b="1" dirty="0"/>
              <a:t>data privacy</a:t>
            </a:r>
            <a:r>
              <a:rPr lang="en-US" sz="1600" dirty="0"/>
              <a:t> and access controls (GDPR/local laws).</a:t>
            </a:r>
          </a:p>
          <a:p>
            <a:r>
              <a:rPr lang="en-US" sz="1600" b="1" dirty="0"/>
              <a:t>Human-in-the-Loop:</a:t>
            </a:r>
            <a:r>
              <a:rPr lang="en-US" sz="1600" dirty="0"/>
              <a:t> Critical, high-consequence actions like </a:t>
            </a:r>
            <a:r>
              <a:rPr lang="en-US" sz="1600" b="1" dirty="0"/>
              <a:t>Hardship Enrollment</a:t>
            </a:r>
            <a:r>
              <a:rPr lang="en-US" sz="1600" dirty="0"/>
              <a:t> require </a:t>
            </a:r>
            <a:r>
              <a:rPr lang="en-US" sz="1600" b="1" dirty="0"/>
              <a:t>two-tiered human review</a:t>
            </a:r>
            <a:r>
              <a:rPr lang="en-US" sz="1600" dirty="0"/>
              <a:t>. Maintain a logged </a:t>
            </a:r>
            <a:r>
              <a:rPr lang="en-US" sz="1600" b="1" dirty="0"/>
              <a:t>override mechanism</a:t>
            </a:r>
            <a:r>
              <a:rPr lang="en-US" sz="1600" dirty="0"/>
              <a:t> for expert exceptions to the model's score</a:t>
            </a:r>
            <a:r>
              <a:rPr lang="en-US" sz="1600" dirty="0" smtClean="0"/>
              <a:t>.</a:t>
            </a:r>
            <a:endParaRPr lang="en-US" sz="1600" dirty="0"/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8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Expected Business Impact</a:t>
            </a:r>
            <a:endParaRPr dirty="0"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52538" y="1200838"/>
            <a:ext cx="8637225" cy="16602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Quantitative Outcomes (Business Benefits)</a:t>
            </a:r>
          </a:p>
          <a:p>
            <a:r>
              <a:rPr lang="en-US" sz="1600" dirty="0"/>
              <a:t>The model's ability to identify and intervene early against specific risk factors (like high CUR) leads to direct financial improvements:</a:t>
            </a:r>
          </a:p>
          <a:p>
            <a:r>
              <a:rPr lang="en-US" sz="1600" b="1" dirty="0"/>
              <a:t>Reduced Delinquency Rates:</a:t>
            </a:r>
            <a:r>
              <a:rPr lang="en-US" sz="1600" dirty="0"/>
              <a:t> By targeting high-risk accounts </a:t>
            </a:r>
            <a:r>
              <a:rPr lang="en-US" sz="1600" i="1" dirty="0"/>
              <a:t>before</a:t>
            </a:r>
            <a:r>
              <a:rPr lang="en-US" sz="1600" dirty="0"/>
              <a:t> they miss a payment, the </a:t>
            </a:r>
            <a:r>
              <a:rPr lang="en-US" sz="1600" b="1" dirty="0"/>
              <a:t>Targeted Utilization Reduction Program (TURP)</a:t>
            </a:r>
            <a:r>
              <a:rPr lang="en-US" sz="1600" dirty="0"/>
              <a:t> minimizes the number of accounts that enter the collections cycle.</a:t>
            </a:r>
          </a:p>
          <a:p>
            <a:r>
              <a:rPr lang="en-US" sz="1600" b="1" dirty="0"/>
              <a:t>Increased Repayment Rates:</a:t>
            </a:r>
            <a:r>
              <a:rPr lang="en-US" sz="1600" dirty="0"/>
              <a:t> Personalized interventions (like offering debt consolidation for high DTI) provide customers with feasible solutions, increasing their ability to pay and improving long-term repayment consistency.</a:t>
            </a:r>
          </a:p>
          <a:p>
            <a:r>
              <a:rPr lang="en-US" sz="1600" b="1" dirty="0"/>
              <a:t>Cost Savings:</a:t>
            </a:r>
            <a:r>
              <a:rPr lang="en-US" sz="1600" dirty="0"/>
              <a:t> The system drastically reduces the need for expensive, high-touch collections activities (calls, letters, legal fees). Preventing a default is far cheaper than recovering a delinquent loan. The automation of low-risk communication (like educational nudges) also lowers operational costs per customer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Improved Customer Trust:</a:t>
            </a:r>
            <a:r>
              <a:rPr lang="en-US" dirty="0"/>
              <a:t> Shifting the conversation from "Why haven't you paid?" to "How can we help you pay?" positions </a:t>
            </a:r>
            <a:r>
              <a:rPr lang="en-US" dirty="0" err="1"/>
              <a:t>Gelidium</a:t>
            </a:r>
            <a:r>
              <a:rPr lang="en-US" dirty="0"/>
              <a:t> as a supportive financial partner. Proactive support fosters goodwill and long-term customer loyalty.</a:t>
            </a:r>
          </a:p>
          <a:p>
            <a:r>
              <a:rPr lang="en-US" b="1" dirty="0"/>
              <a:t>Enhanced Fairness:</a:t>
            </a:r>
            <a:r>
              <a:rPr lang="en-US" dirty="0"/>
              <a:t> The use of the transparent </a:t>
            </a:r>
            <a:r>
              <a:rPr lang="en-US" b="1" dirty="0"/>
              <a:t>Logistic Regression model</a:t>
            </a:r>
            <a:r>
              <a:rPr lang="en-US" dirty="0"/>
              <a:t> and the requirement for </a:t>
            </a:r>
            <a:r>
              <a:rPr lang="en-US" b="1" dirty="0"/>
              <a:t>Bias Checks</a:t>
            </a:r>
            <a:r>
              <a:rPr lang="en-US" dirty="0"/>
              <a:t> ensures that decisions are based purely on objective risk factors, not demographics. The system can easily explain the </a:t>
            </a:r>
            <a:r>
              <a:rPr lang="en-US" i="1" dirty="0"/>
              <a:t>specific</a:t>
            </a:r>
            <a:r>
              <a:rPr lang="en-US" dirty="0"/>
              <a:t> reason for any action, minimizing perceptions of unfair treatment.</a:t>
            </a:r>
          </a:p>
          <a:p>
            <a:r>
              <a:rPr lang="en-US" b="1" dirty="0"/>
              <a:t>Increased Scalability:</a:t>
            </a:r>
            <a:r>
              <a:rPr lang="en-US" dirty="0"/>
              <a:t> The system's automated nature allows it to efficiently manage a growing portfolio without proportionally increasing collections staff. Automated risk flagging and tiered interventions ensure every customer receives the appropriate level of attention instantly, improving operational </a:t>
            </a:r>
            <a:r>
              <a:rPr lang="en-US" dirty="0" smtClean="0"/>
              <a:t>throughput.</a:t>
            </a:r>
          </a:p>
          <a:p>
            <a:pPr marL="114300" indent="0">
              <a:buNone/>
            </a:pPr>
            <a:endParaRPr lang="en-US" dirty="0" smtClean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1416</Words>
  <Application>Microsoft Office PowerPoint</Application>
  <PresentationFormat>On-screen Show (16:9)</PresentationFormat>
  <Paragraphs>79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Roboto</vt:lpstr>
      <vt:lpstr>Roboto Slab</vt:lpstr>
      <vt:lpstr>Marina</vt:lpstr>
      <vt:lpstr>AI-Powered Collections Strategy</vt:lpstr>
      <vt:lpstr>How the System Works</vt:lpstr>
      <vt:lpstr>How the actions are determined</vt:lpstr>
      <vt:lpstr>What Are To Be Triggered</vt:lpstr>
      <vt:lpstr>System Tracking and Continuous Improvement</vt:lpstr>
      <vt:lpstr>Role of Agentic AI</vt:lpstr>
      <vt:lpstr>KEY SAFE GUARDS</vt:lpstr>
      <vt:lpstr>Expected Business Impact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Collections Strategy</dc:title>
  <cp:lastModifiedBy>DELL</cp:lastModifiedBy>
  <cp:revision>6</cp:revision>
  <dcterms:modified xsi:type="dcterms:W3CDTF">2025-10-02T04:23:12Z</dcterms:modified>
</cp:coreProperties>
</file>